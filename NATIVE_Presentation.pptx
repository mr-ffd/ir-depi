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55" autoAdjust="0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81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2919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303520" y="0"/>
            <a:ext cx="54864" cy="51435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572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7472" y="123444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kern="0" spc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NATIVE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347472" y="22860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Analysis &amp; Threat Identification</a:t>
            </a:r>
            <a:endParaRPr lang="en-US" sz="1300" dirty="0"/>
          </a:p>
          <a:p>
            <a:pPr marL="0" indent="0">
              <a:buNone/>
            </a:pPr>
            <a:r>
              <a:rPr lang="en-US" sz="1300" kern="0" spc="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Engine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47472" y="2971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 Detection System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47472" y="3383280"/>
            <a:ext cx="3840480" cy="2743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47472" y="35204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Refat   ·   Farah Mohamed   ·   Nora Nasser   ·   Nada Abdel Wahab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47472" y="39319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— Incident Response Track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Communications &amp; Information Technology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669280" y="640080"/>
            <a:ext cx="1463040" cy="1645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E88E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669280" y="8686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5669280" y="16002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Layers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269480" y="640080"/>
            <a:ext cx="1463040" cy="1645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E88E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269480" y="8686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0%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7269480" y="16002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669280" y="2606040"/>
            <a:ext cx="1463040" cy="1645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E88E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669280" y="28346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&lt;2s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5669280" y="35661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Speed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269480" y="2606040"/>
            <a:ext cx="1463040" cy="1645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E88E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269480" y="28346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600" dirty="0"/>
          </a:p>
        </p:txBody>
      </p:sp>
      <p:sp>
        <p:nvSpPr>
          <p:cNvPr id="22" name="Text 19"/>
          <p:cNvSpPr/>
          <p:nvPr/>
        </p:nvSpPr>
        <p:spPr>
          <a:xfrm>
            <a:off x="7269480" y="35661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86400" y="4754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v1.0.0  · 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1005840"/>
          </a:xfrm>
          <a:prstGeom prst="rect">
            <a:avLst/>
          </a:prstGeom>
          <a:solidFill>
            <a:srgbClr val="0F2044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73152" cy="10058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1463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30352" y="17556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2011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phishing threat landscape &amp; organizational challenges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560320"/>
            <a:ext cx="4114800" cy="1005840"/>
          </a:xfrm>
          <a:prstGeom prst="rect">
            <a:avLst/>
          </a:prstGeom>
          <a:solidFill>
            <a:srgbClr val="0F2044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560320"/>
            <a:ext cx="73152" cy="10058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0352" y="26517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0352" y="29443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Overview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" y="3200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is, who it's for, and why it's different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749040"/>
            <a:ext cx="4114800" cy="1005840"/>
          </a:xfrm>
          <a:prstGeom prst="rect">
            <a:avLst/>
          </a:prstGeom>
          <a:solidFill>
            <a:srgbClr val="0F2044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3749040"/>
            <a:ext cx="73152" cy="10058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0352" y="3840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30352" y="41330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" y="4389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stack, components, and data flow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371600"/>
            <a:ext cx="4114800" cy="1005840"/>
          </a:xfrm>
          <a:prstGeom prst="rect">
            <a:avLst/>
          </a:prstGeom>
          <a:solidFill>
            <a:srgbClr val="0F2044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1371600"/>
            <a:ext cx="73152" cy="10058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19472" y="1463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919472" y="17556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7-Layer Detection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19472" y="2011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NATIVE identifies phishing across seven dimensions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560320"/>
            <a:ext cx="4114800" cy="1005840"/>
          </a:xfrm>
          <a:prstGeom prst="rect">
            <a:avLst/>
          </a:prstGeom>
          <a:solidFill>
            <a:srgbClr val="0F2044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54880" y="2560320"/>
            <a:ext cx="73152" cy="10058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19472" y="26517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919472" y="29443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19472" y="3200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outcomes, accuracy metrics, and benchmarks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749040"/>
            <a:ext cx="4114800" cy="1005840"/>
          </a:xfrm>
          <a:prstGeom prst="rect">
            <a:avLst/>
          </a:prstGeom>
          <a:solidFill>
            <a:srgbClr val="0F2044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54880" y="3749040"/>
            <a:ext cx="73152" cy="10058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19472" y="3840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919472" y="41330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&amp; Conclusion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19472" y="4389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walkthrough and future roadmap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remains the #1 cyber threat vector worldwide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965960" cy="1691640"/>
          </a:xfrm>
          <a:prstGeom prst="rect">
            <a:avLst/>
          </a:prstGeom>
          <a:solidFill>
            <a:srgbClr val="0F2044"/>
          </a:solidFill>
          <a:ln w="12700">
            <a:solidFill>
              <a:srgbClr val="EF53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2344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F53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91%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74320" y="20574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cyberattacks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phishing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143000"/>
            <a:ext cx="1965960" cy="1691640"/>
          </a:xfrm>
          <a:prstGeom prst="rect">
            <a:avLst/>
          </a:prstGeom>
          <a:solidFill>
            <a:srgbClr val="0F2044"/>
          </a:solidFill>
          <a:ln w="12700">
            <a:solidFill>
              <a:srgbClr val="FFB3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68880" y="12344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B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3.4B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468880" y="20574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every day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1965960" cy="1691640"/>
          </a:xfrm>
          <a:prstGeom prst="rect">
            <a:avLst/>
          </a:prstGeom>
          <a:solidFill>
            <a:srgbClr val="0F2044"/>
          </a:solidFill>
          <a:ln w="12700">
            <a:solidFill>
              <a:srgbClr val="1E88E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12344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88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$4.35M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663440" y="20574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data breach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1143000"/>
            <a:ext cx="1965960" cy="1691640"/>
          </a:xfrm>
          <a:prstGeom prst="rect">
            <a:avLst/>
          </a:prstGeom>
          <a:solidFill>
            <a:srgbClr val="0F2044"/>
          </a:solidFill>
          <a:ln w="12700">
            <a:solidFill>
              <a:srgbClr val="00BCD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0" y="12344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82%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858000" y="20574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breaches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involve humans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971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 for Security Teams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74320" y="3383280"/>
            <a:ext cx="1600200" cy="1508760"/>
          </a:xfrm>
          <a:prstGeom prst="rect">
            <a:avLst/>
          </a:prstGeom>
          <a:solidFill>
            <a:srgbClr val="0F2044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34290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74320" y="38587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41148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suspicious emails—impossible to review manually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011680" y="3383280"/>
            <a:ext cx="1600200" cy="1508760"/>
          </a:xfrm>
          <a:prstGeom prst="rect">
            <a:avLst/>
          </a:prstGeom>
          <a:solidFill>
            <a:srgbClr val="0F2044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011680" y="34290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2011680" y="38587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011680" y="41148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tools with network latency hinder rapid response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749040" y="3383280"/>
            <a:ext cx="1600200" cy="1508760"/>
          </a:xfrm>
          <a:prstGeom prst="rect">
            <a:avLst/>
          </a:prstGeom>
          <a:solidFill>
            <a:srgbClr val="0F2044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749040" y="34290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749040" y="38587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49040" y="41148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false positives cause analyst fatigue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0" y="3383280"/>
            <a:ext cx="1600200" cy="1508760"/>
          </a:xfrm>
          <a:prstGeom prst="rect">
            <a:avLst/>
          </a:prstGeom>
          <a:solidFill>
            <a:srgbClr val="0F2044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0" y="34290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486400" y="38587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0" y="41148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tools require sending sensitive data externally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223760" y="3383280"/>
            <a:ext cx="1600200" cy="1508760"/>
          </a:xfrm>
          <a:prstGeom prst="rect">
            <a:avLst/>
          </a:prstGeom>
          <a:solidFill>
            <a:srgbClr val="0F2044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223760" y="34290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223760" y="38587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223760" y="41148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solutions are expensive and complex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Verizon DBIR 2025 · IBM Cost of Breach 2025 · APWG 2025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406404"/>
            <a:ext cx="91440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NATIVE Overview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offline, Python-based phishing email detection system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846320" cy="3525516"/>
          </a:xfrm>
          <a:prstGeom prst="rect">
            <a:avLst/>
          </a:prstGeom>
          <a:solidFill>
            <a:srgbClr val="0F2044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NATIVE?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57276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analyzes raw .eml email files through a 7-layer detection engine to identify phishing attempts before they cause harm — fully offline, with zero cloud dependency.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04288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7-Layer detection engine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false positive filtering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PDF forensic reports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offline — no data leaves the org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EXE — zero installation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7 / 8 / 10 / 11 compatible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94960" y="7365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 Cases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394960" y="1148076"/>
            <a:ext cx="347472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394960" y="1148076"/>
            <a:ext cx="64008" cy="7772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532120" y="12120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SOC Analyst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32120" y="15321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emails before investigation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94960" y="2062476"/>
            <a:ext cx="347472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394960" y="2062476"/>
            <a:ext cx="64008" cy="7772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532120" y="21264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IR Teams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32120" y="24465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triage during breach response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94960" y="2976876"/>
            <a:ext cx="347472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394960" y="2976876"/>
            <a:ext cx="64008" cy="7772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532120" y="30408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Training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32120" y="33609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phishing to employees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94960" y="3891276"/>
            <a:ext cx="3474720" cy="777240"/>
          </a:xfrm>
          <a:prstGeom prst="rect">
            <a:avLst/>
          </a:prstGeom>
          <a:solidFill>
            <a:srgbClr val="0F2044"/>
          </a:solidFill>
          <a:ln w="1270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394960" y="3891276"/>
            <a:ext cx="64008" cy="7772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532120" y="39552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Compliance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32120" y="42753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and document email threats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14800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1E88E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64008" cy="59436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13716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3.8+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6367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logic &amp; detection engine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039112"/>
            <a:ext cx="4114800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00BCD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039112"/>
            <a:ext cx="64008" cy="5943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" y="20848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23500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user interface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752344"/>
            <a:ext cx="4114800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FFB3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752344"/>
            <a:ext cx="64008" cy="59436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0352" y="27980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" y="30632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forensic report generation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465576"/>
            <a:ext cx="4114800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00C85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3465576"/>
            <a:ext cx="64008" cy="59436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0352" y="35112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0352" y="37764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EML parsing &amp; regex matching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178808"/>
            <a:ext cx="4114800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42A5F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4178808"/>
            <a:ext cx="64008" cy="59436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0352" y="42245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PyInstaller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0352" y="448970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EXE packaging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9144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Data Flow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846320" y="1325880"/>
            <a:ext cx="3931920" cy="475488"/>
          </a:xfrm>
          <a:prstGeom prst="rect">
            <a:avLst/>
          </a:prstGeom>
          <a:solidFill>
            <a:srgbClr val="0F2044"/>
          </a:solidFill>
          <a:ln w="12700">
            <a:solidFill>
              <a:srgbClr val="1E88E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92040" y="1399032"/>
            <a:ext cx="329184" cy="32918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92040" y="1389888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85232" y="14356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.eml File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0" y="1755648"/>
            <a:ext cx="27432" cy="201168"/>
          </a:xfrm>
          <a:prstGeom prst="rect">
            <a:avLst/>
          </a:prstGeom>
          <a:solidFill>
            <a:srgbClr val="90A4C0"/>
          </a:solidFill>
          <a:ln w="12700">
            <a:solidFill>
              <a:srgbClr val="90A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46320" y="1938528"/>
            <a:ext cx="3931920" cy="475488"/>
          </a:xfrm>
          <a:prstGeom prst="rect">
            <a:avLst/>
          </a:prstGeom>
          <a:solidFill>
            <a:srgbClr val="0F2044"/>
          </a:solidFill>
          <a:ln w="12700">
            <a:solidFill>
              <a:srgbClr val="00BCD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892040" y="2011680"/>
            <a:ext cx="329184" cy="329184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92040" y="2002536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85232" y="20482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Email Headers &amp; Body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669280" y="2368296"/>
            <a:ext cx="27432" cy="201168"/>
          </a:xfrm>
          <a:prstGeom prst="rect">
            <a:avLst/>
          </a:prstGeom>
          <a:solidFill>
            <a:srgbClr val="90A4C0"/>
          </a:solidFill>
          <a:ln w="12700">
            <a:solidFill>
              <a:srgbClr val="90A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846320" y="2551176"/>
            <a:ext cx="3931920" cy="475488"/>
          </a:xfrm>
          <a:prstGeom prst="rect">
            <a:avLst/>
          </a:prstGeom>
          <a:solidFill>
            <a:srgbClr val="0F2044"/>
          </a:solidFill>
          <a:ln w="12700">
            <a:solidFill>
              <a:srgbClr val="FFB3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892040" y="2624328"/>
            <a:ext cx="329184" cy="329184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92040" y="2615184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285232" y="26609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7 Detection Layers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669280" y="2980944"/>
            <a:ext cx="27432" cy="201168"/>
          </a:xfrm>
          <a:prstGeom prst="rect">
            <a:avLst/>
          </a:prstGeom>
          <a:solidFill>
            <a:srgbClr val="90A4C0"/>
          </a:solidFill>
          <a:ln w="12700">
            <a:solidFill>
              <a:srgbClr val="90A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846320" y="3163824"/>
            <a:ext cx="3931920" cy="475488"/>
          </a:xfrm>
          <a:prstGeom prst="rect">
            <a:avLst/>
          </a:prstGeom>
          <a:solidFill>
            <a:srgbClr val="0F2044"/>
          </a:solidFill>
          <a:ln w="12700">
            <a:solidFill>
              <a:srgbClr val="42A5F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892040" y="3236976"/>
            <a:ext cx="329184" cy="329184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92040" y="3227832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285232" y="32735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Context Filter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669280" y="3593592"/>
            <a:ext cx="27432" cy="201168"/>
          </a:xfrm>
          <a:prstGeom prst="rect">
            <a:avLst/>
          </a:prstGeom>
          <a:solidFill>
            <a:srgbClr val="90A4C0"/>
          </a:solidFill>
          <a:ln w="12700">
            <a:solidFill>
              <a:srgbClr val="90A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846320" y="3776472"/>
            <a:ext cx="3931920" cy="475488"/>
          </a:xfrm>
          <a:prstGeom prst="rect">
            <a:avLst/>
          </a:prstGeom>
          <a:solidFill>
            <a:srgbClr val="0F2044"/>
          </a:solidFill>
          <a:ln w="12700">
            <a:solidFill>
              <a:srgbClr val="00C85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892040" y="3849624"/>
            <a:ext cx="329184" cy="329184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892040" y="3840480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285232" y="3886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Risk Score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669280" y="4206240"/>
            <a:ext cx="27432" cy="201168"/>
          </a:xfrm>
          <a:prstGeom prst="rect">
            <a:avLst/>
          </a:prstGeom>
          <a:solidFill>
            <a:srgbClr val="90A4C0"/>
          </a:solidFill>
          <a:ln w="12700">
            <a:solidFill>
              <a:srgbClr val="90A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846320" y="4389120"/>
            <a:ext cx="3931920" cy="475488"/>
          </a:xfrm>
          <a:prstGeom prst="rect">
            <a:avLst/>
          </a:prstGeom>
          <a:solidFill>
            <a:srgbClr val="0F2044"/>
          </a:solidFill>
          <a:ln w="12700">
            <a:solidFill>
              <a:srgbClr val="1E88E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892040" y="4462272"/>
            <a:ext cx="329184" cy="329184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892040" y="4453128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285232" y="44988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+ PDF Report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7-Layer Detection Engine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60520" cy="896112"/>
          </a:xfrm>
          <a:prstGeom prst="rect">
            <a:avLst/>
          </a:prstGeom>
          <a:solidFill>
            <a:srgbClr val="0F2044"/>
          </a:solidFill>
          <a:ln w="12700">
            <a:solidFill>
              <a:srgbClr val="EF53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384048" cy="384048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61288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703320" y="987552"/>
            <a:ext cx="621792" cy="29260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703320" y="978408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+40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10058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IP-Based URLs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138988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IPs in links (e.g. http://192.x.x.x)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938528"/>
            <a:ext cx="4160520" cy="896112"/>
          </a:xfrm>
          <a:prstGeom prst="rect">
            <a:avLst/>
          </a:prstGeom>
          <a:solidFill>
            <a:srgbClr val="0F2044"/>
          </a:solidFill>
          <a:ln w="12700">
            <a:solidFill>
              <a:srgbClr val="EF53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384048" cy="384048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2185416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703320" y="2011680"/>
            <a:ext cx="621792" cy="29260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03320" y="2002536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+30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" y="20299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Req.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" y="241401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Passwords, cards, bank info, SSN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962656"/>
            <a:ext cx="4160520" cy="896112"/>
          </a:xfrm>
          <a:prstGeom prst="rect">
            <a:avLst/>
          </a:prstGeom>
          <a:solidFill>
            <a:srgbClr val="0F2044"/>
          </a:solidFill>
          <a:ln w="12700">
            <a:solidFill>
              <a:srgbClr val="FFB3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3218688"/>
            <a:ext cx="384048" cy="38404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3209544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703320" y="3035808"/>
            <a:ext cx="621792" cy="2926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703320" y="3026664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+35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" y="305409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Domains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" y="343814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.xyz .tk .ml .cf — high-abuse TLDs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986784"/>
            <a:ext cx="4160520" cy="896112"/>
          </a:xfrm>
          <a:prstGeom prst="rect">
            <a:avLst/>
          </a:prstGeom>
          <a:solidFill>
            <a:srgbClr val="0F2044"/>
          </a:solidFill>
          <a:ln w="12700">
            <a:solidFill>
              <a:srgbClr val="FFB3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4242816"/>
            <a:ext cx="384048" cy="38404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4233672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703320" y="4059936"/>
            <a:ext cx="621792" cy="2926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703320" y="4050792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1248" y="407822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Language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1248" y="446227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"Suspended", "Immediately", "Verify Now"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92040" y="914400"/>
            <a:ext cx="4160520" cy="896112"/>
          </a:xfrm>
          <a:prstGeom prst="rect">
            <a:avLst/>
          </a:prstGeom>
          <a:solidFill>
            <a:srgbClr val="0F2044"/>
          </a:solidFill>
          <a:ln w="12700">
            <a:solidFill>
              <a:srgbClr val="1E88E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983480" y="1170432"/>
            <a:ext cx="384048" cy="384048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83480" y="1161288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321040" y="987552"/>
            <a:ext cx="621792" cy="2926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321040" y="978408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58968" y="10058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Impersonation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58968" y="138988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domain ≠ claimed brand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92040" y="1938528"/>
            <a:ext cx="4160520" cy="896112"/>
          </a:xfrm>
          <a:prstGeom prst="rect">
            <a:avLst/>
          </a:prstGeom>
          <a:solidFill>
            <a:srgbClr val="0F2044"/>
          </a:solidFill>
          <a:ln w="12700">
            <a:solidFill>
              <a:srgbClr val="1E88E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983480" y="2194560"/>
            <a:ext cx="384048" cy="384048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983480" y="2185416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321040" y="2011680"/>
            <a:ext cx="621792" cy="2926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321040" y="2002536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+15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58968" y="20299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458968" y="241401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"Dear Customer" — mass phishing tactic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92040" y="2962656"/>
            <a:ext cx="4160520" cy="896112"/>
          </a:xfrm>
          <a:prstGeom prst="rect">
            <a:avLst/>
          </a:prstGeom>
          <a:solidFill>
            <a:srgbClr val="0F2044"/>
          </a:solidFill>
          <a:ln w="12700">
            <a:solidFill>
              <a:srgbClr val="42A5F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983480" y="3218688"/>
            <a:ext cx="384048" cy="384048"/>
          </a:xfrm>
          <a:prstGeom prst="ellipse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983480" y="3209544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321040" y="3035808"/>
            <a:ext cx="621792" cy="29260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321040" y="3026664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+15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458968" y="305409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Shorteners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458968" y="343814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bit.ly, tinyurl — hides destinations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914618" y="4474803"/>
            <a:ext cx="416052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E88E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892040" y="4537287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Score: 100 pts  ·  Verdict: CLEAN &lt;15  |  SUSPICIOUS 15–49  |  PHISHING ≥50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Context-Aware Filtering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758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Eliminating false positives intelligently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023360" cy="3657600"/>
          </a:xfrm>
          <a:prstGeom prst="rect">
            <a:avLst/>
          </a:prstGeom>
          <a:solidFill>
            <a:srgbClr val="0F2044"/>
          </a:solidFill>
          <a:ln w="12700">
            <a:solidFill>
              <a:srgbClr val="EF53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Filtering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welcome email → ⚠️ SUSPICIOUS (30 pts)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267712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notification → ⚠️ SUSPICIOUS (30 pts)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907792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onboarding email → ⚠️ SUSPICIOUS (30 pts)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547872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FP rate: 5–15%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4023360" cy="3657600"/>
          </a:xfrm>
          <a:prstGeom prst="rect">
            <a:avLst/>
          </a:prstGeom>
          <a:solidFill>
            <a:srgbClr val="0F2044"/>
          </a:solidFill>
          <a:ln w="12700">
            <a:solidFill>
              <a:srgbClr val="00C85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18872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NATIVE Filtering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62763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welcome email → ✅ CLEAN (0 pts)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26771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notification → ✅ CLEAN (0 pts)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90779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onboarding email → ✅ CLEAN (0 pts)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35478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FP rate: 0%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07408" y="2651760"/>
            <a:ext cx="329184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15968" y="242316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57200" y="4773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NATIVE checks for legitimate contexts (payroll, onboarding, HR, IT support) BEFORE applying sensitive data detection — silently skipping the check when a safe context is found.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NATIVE Works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5-step workflow — analysis in under 2 seconds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1481328" cy="3200400"/>
          </a:xfrm>
          <a:prstGeom prst="rect">
            <a:avLst/>
          </a:prstGeom>
          <a:solidFill>
            <a:srgbClr val="0F2044"/>
          </a:solidFill>
          <a:ln w="12700">
            <a:solidFill>
              <a:srgbClr val="1E88E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1481328" cy="640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88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173736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📁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74904" y="2423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NATIVE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4904" y="28803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NATIVE.exe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installation required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01368" y="237744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039112" y="1188720"/>
            <a:ext cx="1481328" cy="3200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0BCD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039112" y="1188720"/>
            <a:ext cx="1481328" cy="640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039112" y="123444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039112" y="173736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📧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093976" y="2423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Email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93976" y="28803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and select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.eml file to analyze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20440" y="237744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758184" y="1188720"/>
            <a:ext cx="1481328" cy="3200400"/>
          </a:xfrm>
          <a:prstGeom prst="rect">
            <a:avLst/>
          </a:prstGeom>
          <a:solidFill>
            <a:srgbClr val="0F2044"/>
          </a:solidFill>
          <a:ln w="12700">
            <a:solidFill>
              <a:srgbClr val="FFB3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758184" y="1188720"/>
            <a:ext cx="1481328" cy="6400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758184" y="123444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B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758184" y="173736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🔍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3813048" y="2423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13048" y="28803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Analyze Email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in 1–2 seconds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39512" y="237744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477256" y="1188720"/>
            <a:ext cx="1481328" cy="3200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0C85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477256" y="1188720"/>
            <a:ext cx="1481328" cy="6400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77256" y="123444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5477256" y="173736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5532120" y="2423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Results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32120" y="28803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verdict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/ Amber / Red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58584" y="237744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196328" y="1188720"/>
            <a:ext cx="1481328" cy="3200400"/>
          </a:xfrm>
          <a:prstGeom prst="rect">
            <a:avLst/>
          </a:prstGeom>
          <a:solidFill>
            <a:srgbClr val="0F2044"/>
          </a:solidFill>
          <a:ln w="12700">
            <a:solidFill>
              <a:srgbClr val="42A5F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196328" y="1188720"/>
            <a:ext cx="1481328" cy="6400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196328" y="123444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2A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7196328" y="173736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📄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7251192" y="2423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251192" y="28803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forensic report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./reports/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" y="448056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Guide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20040" y="4754880"/>
            <a:ext cx="2651760" cy="301752"/>
          </a:xfrm>
          <a:prstGeom prst="rect">
            <a:avLst/>
          </a:prstGeom>
          <a:solidFill>
            <a:srgbClr val="0F2044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11480" y="4754880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 – 14  🟢 CLEAN  —  No action needed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154680" y="4754880"/>
            <a:ext cx="2651760" cy="301752"/>
          </a:xfrm>
          <a:prstGeom prst="rect">
            <a:avLst/>
          </a:prstGeom>
          <a:solidFill>
            <a:srgbClr val="0F2044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246120" y="4754880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15 – 49  🟡 SUSPICIOUS  —  Verify sender before interacting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989320" y="4754880"/>
            <a:ext cx="2651760" cy="301752"/>
          </a:xfrm>
          <a:prstGeom prst="rect">
            <a:avLst/>
          </a:prstGeom>
          <a:solidFill>
            <a:srgbClr val="0F2044"/>
          </a:solidFill>
          <a:ln w="12700">
            <a:solidFill>
              <a:srgbClr val="EF53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080760" y="4754880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50 – 100  🔴 PHISHING  —  Delete &amp; report to IT immediately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 Results &amp; Performance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test emails · 3 categories · 100% accuracy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1965960" cy="1371600"/>
          </a:xfrm>
          <a:prstGeom prst="rect">
            <a:avLst/>
          </a:prstGeom>
          <a:solidFill>
            <a:srgbClr val="0F2044"/>
          </a:solidFill>
          <a:ln w="12700">
            <a:solidFill>
              <a:srgbClr val="00C85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18872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C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143000"/>
            <a:ext cx="1965960" cy="1371600"/>
          </a:xfrm>
          <a:prstGeom prst="rect">
            <a:avLst/>
          </a:prstGeom>
          <a:solidFill>
            <a:srgbClr val="0F2044"/>
          </a:solidFill>
          <a:ln w="12700">
            <a:solidFill>
              <a:srgbClr val="00BCD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68880" y="118872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BC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468880" y="19202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1143000"/>
            <a:ext cx="1965960" cy="1371600"/>
          </a:xfrm>
          <a:prstGeom prst="rect">
            <a:avLst/>
          </a:prstGeom>
          <a:solidFill>
            <a:srgbClr val="0F2044"/>
          </a:solidFill>
          <a:ln w="12700">
            <a:solidFill>
              <a:srgbClr val="1E88E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7720" y="118872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E88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1.2s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617720" y="19202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Analysis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1143000"/>
            <a:ext cx="1965960" cy="1371600"/>
          </a:xfrm>
          <a:prstGeom prst="rect">
            <a:avLst/>
          </a:prstGeom>
          <a:solidFill>
            <a:srgbClr val="0F2044"/>
          </a:solidFill>
          <a:ln w="12700">
            <a:solidFill>
              <a:srgbClr val="FFB3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66560" y="1188720"/>
            <a:ext cx="1965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B3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8/8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766560" y="19202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26069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Results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937689"/>
              </p:ext>
            </p:extLst>
          </p:nvPr>
        </p:nvGraphicFramePr>
        <p:xfrm>
          <a:off x="793003" y="2901910"/>
          <a:ext cx="7589520" cy="21945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8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File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05_phishing_paypal.eml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Phishing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100/100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PHISHING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06_phishing_bank.eml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Phishing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100/100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PHISHING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07_phishing_package.eml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Phishing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100/100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PHISHING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01_clean_welcome.eml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CLEAN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02_clean_newsletter.eml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CLEAN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03_suspicious_invoice.eml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Suspicious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15/100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SUSPICIOUS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04_suspicious_account.eml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Suspicious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15/100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SUSPICIOUS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08_medium_marketing.eml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Suspicious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15/100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SUSPICIOUS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5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 &amp; Roadmap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029200" cy="2560320"/>
          </a:xfrm>
          <a:prstGeom prst="rect">
            <a:avLst/>
          </a:prstGeom>
          <a:solidFill>
            <a:srgbClr val="0F2044"/>
          </a:solidFill>
          <a:ln w="12700">
            <a:solidFill>
              <a:srgbClr val="1E88E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NATIVE Delivers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4709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100% phishing detection accuracy on test set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0% false positive rate with context-aware filtering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Sub-2-second analysis — faster than any manual review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100% offline — sensitive emails never leave the org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Professional PDF forensic reports for compliance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Zero installation — portable EXE for any Windows machine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577840" y="9144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Roadmap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577840" y="1463040"/>
            <a:ext cx="256032" cy="256032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687568" y="1719072"/>
            <a:ext cx="36576" cy="402336"/>
          </a:xfrm>
          <a:prstGeom prst="rect">
            <a:avLst/>
          </a:prstGeom>
          <a:solidFill>
            <a:srgbClr val="90A4C0"/>
          </a:solidFill>
          <a:ln w="12700">
            <a:solidFill>
              <a:srgbClr val="90A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25312" y="13533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v1.0.0  May 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25312" y="16276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release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77840" y="2194560"/>
            <a:ext cx="256032" cy="256032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687568" y="2450592"/>
            <a:ext cx="36576" cy="402336"/>
          </a:xfrm>
          <a:prstGeom prst="rect">
            <a:avLst/>
          </a:prstGeom>
          <a:solidFill>
            <a:srgbClr val="90A4C0"/>
          </a:solidFill>
          <a:ln w="12700">
            <a:solidFill>
              <a:srgbClr val="90A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25312" y="20848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v1.1.0  Q3 2026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25312" y="23591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scanning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77840" y="2926080"/>
            <a:ext cx="256032" cy="256032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687568" y="3182112"/>
            <a:ext cx="36576" cy="402336"/>
          </a:xfrm>
          <a:prstGeom prst="rect">
            <a:avLst/>
          </a:prstGeom>
          <a:solidFill>
            <a:srgbClr val="90A4C0"/>
          </a:solidFill>
          <a:ln w="12700">
            <a:solidFill>
              <a:srgbClr val="90A4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25312" y="28163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v1.2.0  Q4 2026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25312" y="30906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3657600"/>
            <a:ext cx="256032" cy="256032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25312" y="35478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v2.0.0  2027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25312" y="38221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Multi-platform + Cloud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0" y="4434840"/>
            <a:ext cx="9144000" cy="457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45079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Refat  ·  Farah Mohamed  ·  Nora Nasser  ·  Nada Abdel Wahab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479145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Egypt Pioneers Initiative (DEPI)  —  Incident Response Track  |  Ministry of Communications &amp; Information Technology (MCIT)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1026</Words>
  <Application>Microsoft Office PowerPoint</Application>
  <PresentationFormat>On-screen Show (16:9)</PresentationFormat>
  <Paragraphs>279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NATIVE – Phishing Email Detection System</dc:title>
  <dc:subject>PptxGenJS Presentation</dc:subject>
  <dc:creator>Mohamed Refat, Farah Mohamed, Nora Nasser, Nada Abdel Wahab</dc:creator>
  <cp:lastModifiedBy>Farah Mohamed Omar El Absawy</cp:lastModifiedBy>
  <cp:revision>2</cp:revision>
  <dcterms:created xsi:type="dcterms:W3CDTF">2026-05-16T16:47:47Z</dcterms:created>
  <dcterms:modified xsi:type="dcterms:W3CDTF">2026-05-18T15:04:43Z</dcterms:modified>
</cp:coreProperties>
</file>